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DM Sans"/>
      <p:regular r:id="rId201314"/>
    </p:embeddedFont>
    <p:embeddedFont>
      <p:font typeface="DM Sans Medium"/>
      <p:regular r:id="rId201315"/>
    </p:embeddedFont>
    <p:embeddedFont>
      <p:font typeface="DM Sans Bold"/>
      <p:regular r:id="rId201316"/>
    </p:embeddedFont>
    <p:embeddedFont>
      <p:font typeface="Inter Medium"/>
      <p:regular r:id="rId201317"/>
    </p:embeddedFont>
    <p:embeddedFont>
      <p:font typeface="Inter Bold"/>
      <p:regular r:id="rId201318"/>
    </p:embeddedFont>
    <p:embeddedFont>
      <p:font typeface="Inter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1.png"/><Relationship Id="rId10" Type="http://schemas.openxmlformats.org/officeDocument/2006/relationships/image" Target="../media/image-5-2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3.png"/><Relationship Id="rId16" Type="http://schemas.openxmlformats.org/officeDocument/2006/relationships/image" Target="../media/image-5-14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1.png"/><Relationship Id="rId8" Type="http://schemas.openxmlformats.org/officeDocument/2006/relationships/image" Target="../media/image-9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3413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MagnusCI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682" y="260280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Ephemeral Container-Based CI/CD Orchestration Engine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117850"/>
            <a:ext cx="2575357" cy="731242"/>
          </a:xfrm>
          <a:prstGeom prst="roundRect">
            <a:avLst>
              <a:gd name="adj" fmla="val 3877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5881" y="3332262"/>
            <a:ext cx="21465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425839" y="3117850"/>
            <a:ext cx="2575456" cy="731242"/>
          </a:xfrm>
          <a:prstGeom prst="roundRect">
            <a:avLst>
              <a:gd name="adj" fmla="val 3877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40245" y="3332262"/>
            <a:ext cx="214664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0301" y="3117850"/>
            <a:ext cx="2575456" cy="731242"/>
          </a:xfrm>
          <a:prstGeom prst="roundRect">
            <a:avLst>
              <a:gd name="adj" fmla="val 3877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4708" y="3332262"/>
            <a:ext cx="214664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BullMQ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954764" y="3117850"/>
            <a:ext cx="2575456" cy="731242"/>
          </a:xfrm>
          <a:prstGeom prst="roundRect">
            <a:avLst>
              <a:gd name="adj" fmla="val 3877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69171" y="3332262"/>
            <a:ext cx="214664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038104"/>
            <a:ext cx="2575357" cy="731242"/>
          </a:xfrm>
          <a:prstGeom prst="roundRect">
            <a:avLst>
              <a:gd name="adj" fmla="val 3877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5881" y="4252516"/>
            <a:ext cx="21465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425839" y="4038104"/>
            <a:ext cx="2575456" cy="731242"/>
          </a:xfrm>
          <a:prstGeom prst="roundRect">
            <a:avLst>
              <a:gd name="adj" fmla="val 3877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40245" y="4252516"/>
            <a:ext cx="214664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90301" y="4038104"/>
            <a:ext cx="2575456" cy="731242"/>
          </a:xfrm>
          <a:prstGeom prst="roundRect">
            <a:avLst>
              <a:gd name="adj" fmla="val 3877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4708" y="4252516"/>
            <a:ext cx="214664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Kubernetes (K3s)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954764" y="4038104"/>
            <a:ext cx="2575456" cy="731242"/>
          </a:xfrm>
          <a:prstGeom prst="roundRect">
            <a:avLst>
              <a:gd name="adj" fmla="val 3877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69171" y="4252516"/>
            <a:ext cx="214664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MinIO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3286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A1A1A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System Context &amp; Product Overview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542256"/>
            <a:ext cx="4992166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1A1A1A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What is MagnusCI?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661475" y="2040533"/>
            <a:ext cx="4992166" cy="2600722"/>
          </a:xfrm>
          <a:prstGeom prst="rect">
            <a:avLst/>
          </a:prstGeom>
          <a:noFill/>
          <a:ln/>
        </p:spPr>
        <p:txBody>
          <a:bodyPr wrap="square" lIns="0" tIns="70882" rIns="0" bIns="0" rtlCol="0" anchor="t">
            <a:normAutofit/>
          </a:bodyPr>
          <a:lstStyle/>
          <a:p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Cloud-native, distributed CI/CD engine built to orchestrate builds across ephemeral containers and scale with demand.</a:t>
            </a:r>
            <a:endParaRPr lang="en-US" sz="1350" dirty="0"/>
          </a:p>
          <a:p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Containerized pipelines are triggered by repository events, allowing every change to move through a consistent automated delivery flow.</a:t>
            </a:r>
            <a:endParaRPr lang="en-US" sz="1350" dirty="0"/>
          </a:p>
          <a:p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Webhook</a:t>
            </a:r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events start the build flow, </a:t>
            </a:r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DAG</a:t>
            </a:r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parsing routes work into the </a:t>
            </a:r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isolated </a:t>
            </a:r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Worker</a:t>
            </a:r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execution runs each step.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2176" y="1542256"/>
            <a:ext cx="5444294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1A1A1A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Core Focus &amp; Requirements</a:t>
            </a:r>
            <a:endParaRPr lang="en-US" sz="2050" dirty="0"/>
          </a:p>
        </p:txBody>
      </p:sp>
      <p:sp>
        <p:nvSpPr>
          <p:cNvPr id="6" name="Shape 4"/>
          <p:cNvSpPr/>
          <p:nvPr/>
        </p:nvSpPr>
        <p:spPr>
          <a:xfrm>
            <a:off x="6092176" y="2061270"/>
            <a:ext cx="2639054" cy="2485628"/>
          </a:xfrm>
          <a:prstGeom prst="roundRect">
            <a:avLst>
              <a:gd name="adj" fmla="val 1069"/>
            </a:avLst>
          </a:prstGeom>
          <a:solidFill>
            <a:srgbClr val="F9F8F5"/>
          </a:solidFill>
          <a:ln w="19050">
            <a:solidFill>
              <a:srgbClr val="D3D1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88426" y="2257524"/>
            <a:ext cx="2246554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High Throughput Execution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288426" y="2977455"/>
            <a:ext cx="2246554" cy="137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many builds concurrently and efficiently, without slowing down as workload increases.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97318" y="2061270"/>
            <a:ext cx="2639153" cy="2485628"/>
          </a:xfrm>
          <a:prstGeom prst="roundRect">
            <a:avLst>
              <a:gd name="adj" fmla="val 1069"/>
            </a:avLst>
          </a:prstGeom>
          <a:solidFill>
            <a:srgbClr val="F9F8F5"/>
          </a:solidFill>
          <a:ln w="19050">
            <a:solidFill>
              <a:srgbClr val="D3D1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93568" y="2257524"/>
            <a:ext cx="2246653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Zero-Trust Container Isolation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093568" y="2977455"/>
            <a:ext cx="2246653" cy="137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execution environment for every build step, with strong boundaries between jobs and runtime contexts.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92176" y="4712990"/>
            <a:ext cx="5444294" cy="1384796"/>
          </a:xfrm>
          <a:prstGeom prst="roundRect">
            <a:avLst>
              <a:gd name="adj" fmla="val 1919"/>
            </a:avLst>
          </a:prstGeom>
          <a:solidFill>
            <a:srgbClr val="F9F8F5"/>
          </a:solidFill>
          <a:ln w="19050">
            <a:solidFill>
              <a:srgbClr val="D3D1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88426" y="4909245"/>
            <a:ext cx="505179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Real-Time Build Log Streaming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288426" y="5352256"/>
            <a:ext cx="5051795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access to live build output and status so teams can monitor progress as it happens.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2349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Three CI/CD Infrastructure Problems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192165"/>
            <a:ext cx="3496877" cy="1442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3406577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Bursty Webhook Traffic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3815259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push triggers dozens of concurrent builds.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3192165"/>
            <a:ext cx="3496877" cy="1442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3406577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Pipeline Deadlocks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3815259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Multi-stage builds need real dependency graphs.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3192165"/>
            <a:ext cx="3496877" cy="1442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3406577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Untrusted Code Execution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3815259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Arbitrary scripts must run isolated from the host.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982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Mandate: Ephemeral, Zero Host Pollution</a:t>
            </a:r>
            <a:endParaRPr lang="en-US" sz="3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68723"/>
            <a:ext cx="5434373" cy="6852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2722" y="2209105"/>
            <a:ext cx="5091878" cy="280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Webhook</a:t>
            </a:r>
            <a:endParaRPr lang="en-US" sz="1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1368723"/>
            <a:ext cx="5434373" cy="68520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67095" y="2209105"/>
            <a:ext cx="5091878" cy="280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HMAC Verify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660650"/>
            <a:ext cx="5434373" cy="68520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32722" y="3501033"/>
            <a:ext cx="5091878" cy="280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endParaRPr lang="en-US" sz="16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2660650"/>
            <a:ext cx="5434373" cy="68520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267095" y="3501033"/>
            <a:ext cx="5091878" cy="280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</a:t>
            </a:r>
            <a:endParaRPr lang="en-US" sz="16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952577"/>
            <a:ext cx="5434373" cy="68520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32722" y="4792960"/>
            <a:ext cx="5091878" cy="280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Sandbox</a:t>
            </a:r>
            <a:endParaRPr lang="en-US" sz="16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3952577"/>
            <a:ext cx="5434373" cy="68520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267095" y="4792960"/>
            <a:ext cx="5091878" cy="280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 Stream</a:t>
            </a:r>
            <a:endParaRPr lang="en-US" sz="1650" dirty="0"/>
          </a:p>
        </p:txBody>
      </p:sp>
      <p:sp>
        <p:nvSpPr>
          <p:cNvPr id="15" name="Shape 7"/>
          <p:cNvSpPr/>
          <p:nvPr/>
        </p:nvSpPr>
        <p:spPr>
          <a:xfrm>
            <a:off x="661475" y="5419130"/>
            <a:ext cx="2600756" cy="915789"/>
          </a:xfrm>
          <a:prstGeom prst="roundRect">
            <a:avLst>
              <a:gd name="adj" fmla="val 2806"/>
            </a:avLst>
          </a:prstGeom>
          <a:solidFill>
            <a:srgbClr val="F9F8F5"/>
          </a:solidFill>
          <a:ln w="19050">
            <a:solidFill>
              <a:srgbClr val="D3D1C9"/>
            </a:solidFill>
            <a:prstDash val="solid"/>
          </a:ln>
        </p:spPr>
      </p:sp>
      <p:sp>
        <p:nvSpPr>
          <p:cNvPr id="16" name="Text 8"/>
          <p:cNvSpPr/>
          <p:nvPr/>
        </p:nvSpPr>
        <p:spPr>
          <a:xfrm>
            <a:off x="851772" y="5609431"/>
            <a:ext cx="222016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Signed Webhooks</a:t>
            </a:r>
            <a:endParaRPr lang="en-US" sz="1650" dirty="0"/>
          </a:p>
        </p:txBody>
      </p:sp>
      <p:sp>
        <p:nvSpPr>
          <p:cNvPr id="17" name="Shape 9"/>
          <p:cNvSpPr/>
          <p:nvPr/>
        </p:nvSpPr>
        <p:spPr>
          <a:xfrm>
            <a:off x="3417405" y="5419130"/>
            <a:ext cx="2600855" cy="915789"/>
          </a:xfrm>
          <a:prstGeom prst="roundRect">
            <a:avLst>
              <a:gd name="adj" fmla="val 2806"/>
            </a:avLst>
          </a:prstGeom>
          <a:solidFill>
            <a:srgbClr val="F9F8F5"/>
          </a:solidFill>
          <a:ln w="19050">
            <a:solidFill>
              <a:srgbClr val="D3D1C9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3607702" y="5609431"/>
            <a:ext cx="2220262" cy="53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Deadlock-Free Scheduling</a:t>
            </a:r>
            <a:endParaRPr lang="en-US" sz="1650" dirty="0"/>
          </a:p>
        </p:txBody>
      </p:sp>
      <p:sp>
        <p:nvSpPr>
          <p:cNvPr id="19" name="Shape 11"/>
          <p:cNvSpPr/>
          <p:nvPr/>
        </p:nvSpPr>
        <p:spPr>
          <a:xfrm>
            <a:off x="6173435" y="5419130"/>
            <a:ext cx="2600756" cy="915789"/>
          </a:xfrm>
          <a:prstGeom prst="roundRect">
            <a:avLst>
              <a:gd name="adj" fmla="val 2806"/>
            </a:avLst>
          </a:prstGeom>
          <a:solidFill>
            <a:srgbClr val="F9F8F5"/>
          </a:solidFill>
          <a:ln w="19050">
            <a:solidFill>
              <a:srgbClr val="D3D1C9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6363731" y="5609431"/>
            <a:ext cx="222016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Isolated Execution</a:t>
            </a:r>
            <a:endParaRPr lang="en-US" sz="1650" dirty="0"/>
          </a:p>
        </p:txBody>
      </p:sp>
      <p:sp>
        <p:nvSpPr>
          <p:cNvPr id="21" name="Shape 13"/>
          <p:cNvSpPr/>
          <p:nvPr/>
        </p:nvSpPr>
        <p:spPr>
          <a:xfrm>
            <a:off x="8929365" y="5419130"/>
            <a:ext cx="2600855" cy="915789"/>
          </a:xfrm>
          <a:prstGeom prst="roundRect">
            <a:avLst>
              <a:gd name="adj" fmla="val 2806"/>
            </a:avLst>
          </a:prstGeom>
          <a:solidFill>
            <a:srgbClr val="F9F8F5"/>
          </a:solidFill>
          <a:ln w="19050">
            <a:solidFill>
              <a:srgbClr val="D3D1C9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9119662" y="5609431"/>
            <a:ext cx="222026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Real-Time Logs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0345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Webhook Verification &amp; BullMQ Backpressure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950541"/>
            <a:ext cx="5678246" cy="113724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3055" y="2097088"/>
            <a:ext cx="255085" cy="2550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0581" y="2632968"/>
            <a:ext cx="530003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GitHub Webhook Arrives</a:t>
            </a:r>
            <a:endParaRPr lang="en-US" sz="16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240881"/>
            <a:ext cx="5678246" cy="1137245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73055" y="3387427"/>
            <a:ext cx="255085" cy="255091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850581" y="3923308"/>
            <a:ext cx="530003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HMAC-SHA256 Verify (raw body)</a:t>
            </a:r>
            <a:endParaRPr lang="en-US" sz="1650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531221"/>
            <a:ext cx="5678246" cy="1137245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73055" y="4677767"/>
            <a:ext cx="255085" cy="255091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850581" y="5213648"/>
            <a:ext cx="530003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BullMQ Queue → Worker Pool</a:t>
            </a:r>
            <a:endParaRPr lang="en-US" sz="1650" dirty="0"/>
          </a:p>
        </p:txBody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60993" y="1943795"/>
            <a:ext cx="4775477" cy="1055588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7026298" y="2132905"/>
            <a:ext cx="432106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Decoupled Ingestion</a:t>
            </a:r>
            <a:endParaRPr lang="en-US" sz="1650" dirty="0"/>
          </a:p>
        </p:txBody>
      </p:sp>
      <p:sp>
        <p:nvSpPr>
          <p:cNvPr id="14" name="Text 5"/>
          <p:cNvSpPr/>
          <p:nvPr/>
        </p:nvSpPr>
        <p:spPr>
          <a:xfrm>
            <a:off x="7026298" y="2551708"/>
            <a:ext cx="432106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Ingestion and execution are fully independent layers.</a:t>
            </a:r>
            <a:endParaRPr lang="en-US" sz="1300" dirty="0"/>
          </a:p>
        </p:txBody>
      </p:sp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60993" y="3152477"/>
            <a:ext cx="4775477" cy="1055588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7026298" y="3341588"/>
            <a:ext cx="432106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Stalled-Job Reclaim</a:t>
            </a:r>
            <a:endParaRPr lang="en-US" sz="1650" dirty="0"/>
          </a:p>
        </p:txBody>
      </p:sp>
      <p:sp>
        <p:nvSpPr>
          <p:cNvPr id="17" name="Text 7"/>
          <p:cNvSpPr/>
          <p:nvPr/>
        </p:nvSpPr>
        <p:spPr>
          <a:xfrm>
            <a:off x="7026298" y="3760391"/>
            <a:ext cx="432106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Auto-reclaim triggered if a worker dies mid-build.</a:t>
            </a:r>
            <a:endParaRPr lang="en-US" sz="1300" dirty="0"/>
          </a:p>
        </p:txBody>
      </p:sp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760993" y="4361160"/>
            <a:ext cx="4775477" cy="1314152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7026298" y="4550271"/>
            <a:ext cx="432106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Worker Pool Isolation</a:t>
            </a:r>
            <a:endParaRPr lang="en-US" sz="1650" dirty="0"/>
          </a:p>
        </p:txBody>
      </p:sp>
      <p:sp>
        <p:nvSpPr>
          <p:cNvPr id="20" name="Text 9"/>
          <p:cNvSpPr/>
          <p:nvPr/>
        </p:nvSpPr>
        <p:spPr>
          <a:xfrm>
            <a:off x="7026298" y="4969073"/>
            <a:ext cx="4321067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job runs in a controlled worker pool, protecting the host from noisy or long-running tasks.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2429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Deadlock-Free Scheduling, Isolated Execution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974453"/>
            <a:ext cx="691944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DAG Scheduling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854" y="2412405"/>
            <a:ext cx="6154683" cy="28168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56496" y="4560319"/>
            <a:ext cx="1155477" cy="222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Deploy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300279" y="4560319"/>
            <a:ext cx="1155477" cy="222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Build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851976" y="4560319"/>
            <a:ext cx="1155477" cy="222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Test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2016" y="4560319"/>
            <a:ext cx="1155477" cy="222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Lint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1475" y="5401469"/>
            <a:ext cx="752902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Cycle check via DFS. Parallel stages via Kahn's algorithm.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02189" y="1456730"/>
            <a:ext cx="353428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Sandbox Isolation</a:t>
            </a:r>
            <a:endParaRPr lang="en-US" sz="16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2189" y="1894681"/>
            <a:ext cx="3534282" cy="13141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67493" y="2083792"/>
            <a:ext cx="307987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cgroup Limits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8267493" y="2502595"/>
            <a:ext cx="307987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Memory, CPU, and PID caps enforced per container.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2189" y="3361928"/>
            <a:ext cx="3534282" cy="13141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67493" y="3551039"/>
            <a:ext cx="307987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Socket Never Mounted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8267493" y="3969841"/>
            <a:ext cx="307987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docker.sock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withheld from user sandboxes.</a:t>
            </a:r>
            <a:endParaRPr lang="en-US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02189" y="4829175"/>
            <a:ext cx="3534282" cy="13141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67493" y="5018286"/>
            <a:ext cx="307987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Path Traversal Blocked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8267493" y="5437088"/>
            <a:ext cx="307987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Workspace locked to build ID — no escape possible.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441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War Story: The Bot That Reverted Itself Forever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312789"/>
            <a:ext cx="425241" cy="425252"/>
          </a:xfrm>
          <a:prstGeom prst="roundRect">
            <a:avLst>
              <a:gd name="adj" fmla="val 6667"/>
            </a:avLst>
          </a:prstGeom>
          <a:solidFill>
            <a:srgbClr val="EDEBE3"/>
          </a:solidFill>
          <a:ln/>
        </p:spPr>
      </p:sp>
      <p:sp>
        <p:nvSpPr>
          <p:cNvPr id="4" name="Text 2"/>
          <p:cNvSpPr/>
          <p:nvPr/>
        </p:nvSpPr>
        <p:spPr>
          <a:xfrm>
            <a:off x="732365" y="234821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75723" y="2377678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Symptom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275723" y="2786360"/>
            <a:ext cx="47019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count climbing — no new human commits.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3915" y="2312789"/>
            <a:ext cx="425241" cy="425252"/>
          </a:xfrm>
          <a:prstGeom prst="roundRect">
            <a:avLst>
              <a:gd name="adj" fmla="val 6667"/>
            </a:avLst>
          </a:prstGeom>
          <a:solidFill>
            <a:srgbClr val="EDEBE3"/>
          </a:solidFill>
          <a:ln/>
        </p:spPr>
      </p:sp>
      <p:sp>
        <p:nvSpPr>
          <p:cNvPr id="8" name="Text 6"/>
          <p:cNvSpPr/>
          <p:nvPr/>
        </p:nvSpPr>
        <p:spPr>
          <a:xfrm>
            <a:off x="6284805" y="234821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28163" y="2377678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Suspected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828163" y="2786360"/>
            <a:ext cx="470205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Flaky test causing repeated re-triggers.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1475" y="3466802"/>
            <a:ext cx="425241" cy="425252"/>
          </a:xfrm>
          <a:prstGeom prst="roundRect">
            <a:avLst>
              <a:gd name="adj" fmla="val 6667"/>
            </a:avLst>
          </a:prstGeom>
          <a:solidFill>
            <a:srgbClr val="EDEBE3"/>
          </a:solidFill>
          <a:ln/>
        </p:spPr>
      </p:sp>
      <p:sp>
        <p:nvSpPr>
          <p:cNvPr id="12" name="Text 10"/>
          <p:cNvSpPr/>
          <p:nvPr/>
        </p:nvSpPr>
        <p:spPr>
          <a:xfrm>
            <a:off x="732365" y="3502223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75723" y="3531691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Ruled Out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1275723" y="3940373"/>
            <a:ext cx="47019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Logs showed unrelated, inconsistent failures each time.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213915" y="3466802"/>
            <a:ext cx="425241" cy="425252"/>
          </a:xfrm>
          <a:prstGeom prst="roundRect">
            <a:avLst>
              <a:gd name="adj" fmla="val 6667"/>
            </a:avLst>
          </a:prstGeom>
          <a:solidFill>
            <a:srgbClr val="EDEBE3"/>
          </a:solidFill>
          <a:ln/>
        </p:spPr>
      </p:sp>
      <p:sp>
        <p:nvSpPr>
          <p:cNvPr id="16" name="Text 14"/>
          <p:cNvSpPr/>
          <p:nvPr/>
        </p:nvSpPr>
        <p:spPr>
          <a:xfrm>
            <a:off x="6284805" y="3502223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28163" y="3531691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Root Cause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828163" y="3940373"/>
            <a:ext cx="470205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Auto-revert bot's own commit re-triggered the webhook — infinite loop.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61475" y="4757837"/>
            <a:ext cx="10868745" cy="755948"/>
          </a:xfrm>
          <a:prstGeom prst="roundRect">
            <a:avLst>
              <a:gd name="adj" fmla="val 3751"/>
            </a:avLst>
          </a:prstGeom>
          <a:solidFill>
            <a:srgbClr val="E3E3E8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025529"/>
            <a:ext cx="236234" cy="18901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75723" y="4994077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Any self-triggering automation needs a self-recognition check.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9440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Measured Impact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263080"/>
            <a:ext cx="5339820" cy="1555750"/>
          </a:xfrm>
          <a:prstGeom prst="roundRect">
            <a:avLst>
              <a:gd name="adj" fmla="val 1822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5881" y="2477492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75881" y="2886174"/>
            <a:ext cx="4911007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 Suites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Unit, integration, chaos, E2E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263080"/>
            <a:ext cx="5339919" cy="1555750"/>
          </a:xfrm>
          <a:prstGeom prst="roundRect">
            <a:avLst>
              <a:gd name="adj" fmla="val 1822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4708" y="2477492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Zero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404708" y="2886174"/>
            <a:ext cx="4911106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Pool Exhaustion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Fail-fast Postgres connection limits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4007842"/>
            <a:ext cx="5339820" cy="1555750"/>
          </a:xfrm>
          <a:prstGeom prst="roundRect">
            <a:avLst>
              <a:gd name="adj" fmla="val 1822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5881" y="4222254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zstd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75881" y="4630936"/>
            <a:ext cx="4911007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Compression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Multi-threaded vs single-threaded gzip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4007842"/>
            <a:ext cx="5339919" cy="1555750"/>
          </a:xfrm>
          <a:prstGeom prst="roundRect">
            <a:avLst>
              <a:gd name="adj" fmla="val 1822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4708" y="4222254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K3s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404708" y="4630936"/>
            <a:ext cx="4911106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 Deployment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Rolling updates, continuous health checks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3750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Trade-offs &amp; Design Decisions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606179"/>
            <a:ext cx="2575357" cy="2614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07423" y="273784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75881" y="3387626"/>
            <a:ext cx="21465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BullMQ vs Kafka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3796308"/>
            <a:ext cx="214654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Redis-native. Not built for durable event replay at scale.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839" y="2606179"/>
            <a:ext cx="2575456" cy="26142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1786" y="273784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3640245" y="3387626"/>
            <a:ext cx="21466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Socket.IO vs SSE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3640245" y="3796308"/>
            <a:ext cx="21466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Bidirectional streaming required. SSE is one-directional only.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0301" y="2606179"/>
            <a:ext cx="2575456" cy="26142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36249" y="273784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6404708" y="3387626"/>
            <a:ext cx="21466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Zstandard vs gzip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6404708" y="3796308"/>
            <a:ext cx="214664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Multi-threaded compression — cache hydration is the real bottleneck.</a:t>
            </a:r>
            <a:endParaRPr lang="en-US" sz="14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54764" y="2606179"/>
            <a:ext cx="2575456" cy="261421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100712" y="273784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9169171" y="3387626"/>
            <a:ext cx="214664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Docker Socket Isolation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9169171" y="4091583"/>
            <a:ext cx="21466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Mounted to trusted worker pod only. Never the user sandbox.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463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What's Next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931641" y="1625104"/>
            <a:ext cx="1120816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self-triggering system needs a self-recognition check from day 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1431925"/>
            <a:ext cx="25399" cy="667841"/>
          </a:xfrm>
          <a:prstGeom prst="roundRect">
            <a:avLst>
              <a:gd name="adj" fmla="val 50001"/>
            </a:avLst>
          </a:prstGeom>
          <a:solidFill>
            <a:srgbClr val="28282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92945"/>
            <a:ext cx="3622882" cy="7206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552" y="3185220"/>
            <a:ext cx="326272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Long-Lived Worker Pods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41552" y="3569692"/>
            <a:ext cx="3262727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Current: persistent workers handle all builds.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2292945"/>
            <a:ext cx="3622882" cy="72062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64434" y="3185220"/>
            <a:ext cx="326272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Ephemeral Kubernetes Jobs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4464434" y="3569692"/>
            <a:ext cx="3262727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Next: one job per build. Further reduces idle cost.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2292945"/>
            <a:ext cx="3622882" cy="72062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87316" y="3185220"/>
            <a:ext cx="326272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Idle Resource Cost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8087316" y="3569692"/>
            <a:ext cx="3262727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Ephemeral jobs eliminate persistent overhead entirely.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4312741"/>
            <a:ext cx="3622882" cy="72062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41552" y="5205016"/>
            <a:ext cx="326272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Blast Radius Reduction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841552" y="5589488"/>
            <a:ext cx="3262727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Pod-per-build enforces stronger isolation boundaries.</a:t>
            </a:r>
            <a:endParaRPr lang="en-US" sz="14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4357" y="4312741"/>
            <a:ext cx="3622882" cy="72062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464434" y="5205016"/>
            <a:ext cx="326272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Scale to Zero</a:t>
            </a:r>
            <a:endParaRPr lang="en-US" sz="1750" dirty="0"/>
          </a:p>
        </p:txBody>
      </p:sp>
      <p:sp>
        <p:nvSpPr>
          <p:cNvPr id="19" name="Text 12"/>
          <p:cNvSpPr/>
          <p:nvPr/>
        </p:nvSpPr>
        <p:spPr>
          <a:xfrm>
            <a:off x="4464434" y="5589488"/>
            <a:ext cx="3262727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Kubernetes native scheduling handles burst and idle equally.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2026-08-30T10:41:43Z</dcterms:created>
  <dcterms:modified xsi:type="dcterms:W3CDTF">2026-08-30T10:41:43Z</dcterms:modified>
</cp:coreProperties>
</file>