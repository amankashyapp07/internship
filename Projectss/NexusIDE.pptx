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Medium"/>
      <p:regular r:id="rId201315"/>
    </p:embeddedFont>
    <p:embeddedFont>
      <p:font typeface="DM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1.png"/><Relationship Id="rId8" Type="http://schemas.openxmlformats.org/officeDocument/2006/relationships/image" Target="../media/image-11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image" Target="../media/image-12-1.png"/><Relationship Id="rId8" Type="http://schemas.openxmlformats.org/officeDocument/2006/relationships/image" Target="../media/image-1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08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58A6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NexusIDE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77070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Production-Ready Collaborative Cloud IDE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55813"/>
            <a:ext cx="10868745" cy="1543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&amp; UI Layer: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Monaco Editor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&amp; Real-Time Gateway: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Socket.io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&amp; State Mesh: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Infrastructure, Sandboxing &amp; Observability: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PM2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 &amp; Quality Assurance: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465951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56682" y="494476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demo: http://129.154.39.198/ide/login · GitHub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76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Three Distributed Systems Bottlenecks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⇄ State Synchronization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66404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edits across pods with no shared memory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7" name="Text 5"/>
          <p:cNvSpPr/>
          <p:nvPr/>
        </p:nvSpPr>
        <p:spPr>
          <a:xfrm>
            <a:off x="4536366" y="3255367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⬚ Compute Density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3664049"/>
            <a:ext cx="3118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CPU-heavy ops blocking the Node.js event loop; 300ms+ event loop lag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66355"/>
            <a:ext cx="3496877" cy="1693962"/>
          </a:xfrm>
          <a:prstGeom prst="roundRect">
            <a:avLst>
              <a:gd name="adj" fmla="val 1674"/>
            </a:avLst>
          </a:prstGeom>
          <a:solidFill>
            <a:srgbClr val="EDEBE3"/>
          </a:solidFill>
          <a:ln/>
        </p:spPr>
      </p:sp>
      <p:sp>
        <p:nvSpPr>
          <p:cNvPr id="10" name="Text 8"/>
          <p:cNvSpPr/>
          <p:nvPr/>
        </p:nvSpPr>
        <p:spPr>
          <a:xfrm>
            <a:off x="8222251" y="3255367"/>
            <a:ext cx="31188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Write Amplification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3670399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keystroke writes to Postgres — disk I/O saturates in seconds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428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Mandate: </a:t>
            </a:r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58A6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Fully Stateless Backend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7479" y="1464667"/>
            <a:ext cx="3923408" cy="392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48562" y="2135859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548562" y="2390594"/>
            <a:ext cx="1264168" cy="428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requests without sticky sessions to any pod.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452417" y="2064463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Node.js Pod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52417" y="2319198"/>
            <a:ext cx="1264168" cy="571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app instances; three identical pods handle requests.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548672" y="4039651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48672" y="4294386"/>
            <a:ext cx="1264168" cy="428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 and real-time collab data shared across pods.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452417" y="4039651"/>
            <a:ext cx="1264168" cy="19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52417" y="4294386"/>
            <a:ext cx="1264168" cy="428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snapshots and LSP data stored reliably.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2226" y="1414165"/>
            <a:ext cx="3564245" cy="9153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18679" y="158442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Collab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8218679" y="1941612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pod serves any user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2226" y="2450505"/>
            <a:ext cx="3564245" cy="9153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8679" y="262076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Sandboxed Terminals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18679" y="2977952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state in Redis, not RAM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72226" y="3486845"/>
            <a:ext cx="3564245" cy="9153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18679" y="365710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LSP + Snapshots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8218679" y="4014291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Persisted to PostgreSQL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2226" y="4523184"/>
            <a:ext cx="3564245" cy="9153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18679" y="4693444"/>
            <a:ext cx="314753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Horizontal Scale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8218679" y="5050631"/>
            <a:ext cx="314753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no sticky sessions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61475" y="5710634"/>
            <a:ext cx="10868745" cy="523081"/>
          </a:xfrm>
          <a:prstGeom prst="roundRect">
            <a:avLst>
              <a:gd name="adj" fmla="val 4336"/>
            </a:avLst>
          </a:prstGeom>
          <a:solidFill>
            <a:srgbClr val="E3E3E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680" y="5883077"/>
            <a:ext cx="189007" cy="15120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52893" y="5869384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sticky sessions — any pod can serve any request.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9095"/>
            <a:ext cx="861594" cy="215305"/>
          </a:xfrm>
          <a:prstGeom prst="roundRect">
            <a:avLst>
              <a:gd name="adj" fmla="val 7901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41561"/>
            <a:ext cx="130112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CRDT LAYER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5686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BC8C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CRDT State Mesh</a:t>
            </a:r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&amp; Redis Pub/Sub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2077" y="1559322"/>
            <a:ext cx="4767540" cy="4281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23" y="2407962"/>
            <a:ext cx="1777008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A → Pod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33459" y="4764415"/>
            <a:ext cx="1721094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Redis Pub/Sub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33459" y="5058892"/>
            <a:ext cx="1721094" cy="32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origin-tag prevents rebroadcast loop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61084" y="2887760"/>
            <a:ext cx="1721095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Pod 2 → User 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596036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Yjs CRDTs — Strong Eventual Consistency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6298"/>
            <a:ext cx="1561267" cy="243979"/>
          </a:xfrm>
          <a:prstGeom prst="roundRect">
            <a:avLst>
              <a:gd name="adj" fmla="val 7902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14" y="604044"/>
            <a:ext cx="128485" cy="128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0492" y="594420"/>
            <a:ext cx="1785496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LAYER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84484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3FB95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Shared Container,</a:t>
            </a:r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Isolated PTYs</a:t>
            </a:r>
            <a:endParaRPr lang="en-US" sz="3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05273"/>
            <a:ext cx="4452628" cy="44527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96116" y="2216348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One container per workspace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796116" y="2603897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users share the same filesystem namespace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796116" y="3169841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Isolated PTY per user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796116" y="3557389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shell sessions, no cross-user leakage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796116" y="4123333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&lt;50ms assignment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796116" y="4510881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Pre-warmed pool eliminates cold-start latency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796116" y="5076825"/>
            <a:ext cx="474045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cgroups v2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796116" y="5464373"/>
            <a:ext cx="474045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Hibernation + hard resource limits per container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71290"/>
            <a:ext cx="133207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1339255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327944"/>
            <a:ext cx="148804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6340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Offloading the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D2992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Main Thread</a:t>
            </a:r>
            <a:endParaRPr lang="en-US" sz="3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508151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0482" y="345320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Main Thread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50482" y="3861891"/>
            <a:ext cx="3244868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D299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300ms+ lag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Merkle hashing + CRDT compaction blocking I/O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57" y="2508151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73364" y="345320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Offload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4473364" y="3861891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CPU-bound work to Worker Threads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239" y="2508151"/>
            <a:ext cx="3622882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96246" y="3453209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Worker Threads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096246" y="3861891"/>
            <a:ext cx="3244868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FB95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&lt;5ms latency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Merkle Hashing · CRDT Compaction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28419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Result: 60x latency improvement (300ms → 5ms)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711"/>
            <a:ext cx="788472" cy="169069"/>
          </a:xfrm>
          <a:prstGeom prst="roundRect">
            <a:avLst>
              <a:gd name="adj" fmla="val 7903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247" y="584696"/>
            <a:ext cx="88997" cy="889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1693" y="578048"/>
            <a:ext cx="1131065" cy="102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 STORY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39973"/>
            <a:ext cx="1086874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</a:t>
            </a:r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D29922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Race Condition</a:t>
            </a:r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That Doubled a Workspace</a:t>
            </a:r>
            <a:endParaRPr lang="en-US" sz="2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186259"/>
            <a:ext cx="5434373" cy="4452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2796" y="1697137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Symptom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772796" y="1910358"/>
            <a:ext cx="521173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users landed in the same terminal, mid-typing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186259"/>
            <a:ext cx="5434373" cy="4452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7168" y="1697137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Suspected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6207168" y="1910358"/>
            <a:ext cx="521173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room mix-up on the frontend</a:t>
            </a:r>
            <a:endParaRPr lang="en-US" sz="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163167"/>
            <a:ext cx="5434373" cy="4452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2796" y="2674045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Ruled Out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72796" y="2887266"/>
            <a:ext cx="5211731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 routing logs showed correct per-user rooms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2163167"/>
            <a:ext cx="5434373" cy="4452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07168" y="2674045"/>
            <a:ext cx="5211731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4. Root Cause</a:t>
            </a:r>
            <a:endParaRPr lang="en-US" sz="1050" dirty="0"/>
          </a:p>
        </p:txBody>
      </p:sp>
      <p:sp>
        <p:nvSpPr>
          <p:cNvPr id="17" name="Text 10"/>
          <p:cNvSpPr/>
          <p:nvPr/>
        </p:nvSpPr>
        <p:spPr>
          <a:xfrm>
            <a:off x="6207168" y="2887266"/>
            <a:ext cx="5211731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Pool checkout wasn't atomic — two requests read the same 'ready' container before either marked it claimed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661475" y="3420864"/>
            <a:ext cx="58555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BEFORE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661475" y="3668514"/>
            <a:ext cx="5855546" cy="756940"/>
          </a:xfrm>
          <a:prstGeom prst="roundRect">
            <a:avLst>
              <a:gd name="adj" fmla="val 2206"/>
            </a:avLst>
          </a:prstGeom>
          <a:solidFill>
            <a:srgbClr val="ECEBE8"/>
          </a:solidFill>
          <a:ln/>
        </p:spPr>
      </p:sp>
      <p:sp>
        <p:nvSpPr>
          <p:cNvPr id="20" name="Text 13"/>
          <p:cNvSpPr/>
          <p:nvPr/>
        </p:nvSpPr>
        <p:spPr>
          <a:xfrm>
            <a:off x="795020" y="3779838"/>
            <a:ext cx="5588456" cy="534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container = pool.find(c =&gt; c.status === 'ready');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verifyContainer(container); // async gap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container.status = 'claimed';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661475" y="4499173"/>
            <a:ext cx="64651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requests can both read 'ready' before either writes 'claimed'.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661475" y="4742160"/>
            <a:ext cx="5855546" cy="12700"/>
          </a:xfrm>
          <a:prstGeom prst="roundRect">
            <a:avLst>
              <a:gd name="adj" fmla="val 49999"/>
            </a:avLst>
          </a:prstGeom>
          <a:solidFill>
            <a:srgbClr val="161613">
              <a:alpha val="5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661475" y="4856361"/>
            <a:ext cx="58555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AFTER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61475" y="5104011"/>
            <a:ext cx="5855546" cy="935038"/>
          </a:xfrm>
          <a:prstGeom prst="roundRect">
            <a:avLst>
              <a:gd name="adj" fmla="val 1786"/>
            </a:avLst>
          </a:prstGeom>
          <a:solidFill>
            <a:srgbClr val="ECEBE8"/>
          </a:solidFill>
          <a:ln/>
        </p:spPr>
      </p:sp>
      <p:sp>
        <p:nvSpPr>
          <p:cNvPr id="25" name="Text 18"/>
          <p:cNvSpPr/>
          <p:nvPr/>
        </p:nvSpPr>
        <p:spPr>
          <a:xfrm>
            <a:off x="795020" y="5215334"/>
            <a:ext cx="5588456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container = await redlock.acquire('pool-checkout');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pool.find(c =&gt; c.status === 'ready');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c.status = 'claimed';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redlock.release();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661475" y="6112768"/>
            <a:ext cx="6465130" cy="1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Read-then-claim happens as one atomic, lock-protected step.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6714858" y="3355280"/>
            <a:ext cx="4901780" cy="2957909"/>
          </a:xfrm>
          <a:prstGeom prst="roundRect">
            <a:avLst>
              <a:gd name="adj" fmla="val 565"/>
            </a:avLst>
          </a:prstGeom>
          <a:solidFill>
            <a:srgbClr val="D29922"/>
          </a:solidFill>
          <a:ln/>
        </p:spPr>
      </p:sp>
      <p:sp>
        <p:nvSpPr>
          <p:cNvPr id="28" name="Text 21"/>
          <p:cNvSpPr/>
          <p:nvPr/>
        </p:nvSpPr>
        <p:spPr>
          <a:xfrm>
            <a:off x="6826178" y="3420864"/>
            <a:ext cx="4679138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Pre-Warmed Pool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826178" y="3660378"/>
            <a:ext cx="4679138" cy="683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involved a read, then an async gap, then a write.</a:t>
            </a:r>
            <a:endParaRPr lang="en-US" sz="700" dirty="0"/>
          </a:p>
          <a:p>
            <a:pPr algn="l" indent="0" marL="0">
              <a:lnSpc>
                <a:spcPct val="106000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Bug: two concurrent requests could both pass the read before either completed the write — a classic check-then-act race.</a:t>
            </a:r>
            <a:endParaRPr lang="en-US" sz="7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wrap the entire checkout in a Redis-backed distributed lock (Redlock), so no second request can read the pool until the first claim finishes.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40730"/>
            <a:ext cx="1113703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97384"/>
            <a:ext cx="149647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034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Resilience: Failure Modes &amp; Recovery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65" y="2548434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2542480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Redlock Distributed Locking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75723" y="2951162"/>
            <a:ext cx="470195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split-brain writes and race conditions on shared resources (Postgres debounce, container pool checkout)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4805" y="2548434"/>
            <a:ext cx="283461" cy="283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8163" y="2542480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cgroup Resource Limits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828163" y="2951162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memory/CPU/PID ceilings prevent one workspace from starving the host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65" y="4307284"/>
            <a:ext cx="283461" cy="2834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75723" y="4301331"/>
            <a:ext cx="470195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Pre-Warmed Container Pool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1275723" y="4710013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Standing reserve of ready containers absorbs load spikes without cold-start delay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4805" y="4307284"/>
            <a:ext cx="283461" cy="2834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8163" y="4301331"/>
            <a:ext cx="47020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Worker Thread Isolation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828163" y="4710013"/>
            <a:ext cx="47020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CPU-heavy work offloaded from the main thread so one heavy operation can't freeze the whole event loop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46188"/>
            <a:ext cx="1116481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1314152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302841"/>
            <a:ext cx="12724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6089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Measured </a:t>
            </a:r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39C5C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Impact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2483048"/>
            <a:ext cx="2575357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5881" y="2697460"/>
            <a:ext cx="214654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609KB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5881" y="3165277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Bundle Size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81" y="3680321"/>
            <a:ext cx="2146544" cy="1202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5881" y="5094982"/>
            <a:ext cx="21465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4.68MB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3425839" y="2483048"/>
            <a:ext cx="2575456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40245" y="2697460"/>
            <a:ext cx="2146643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&lt;5ms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640245" y="3165277"/>
            <a:ext cx="2146643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Loop Latency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worker thread offload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190301" y="2483048"/>
            <a:ext cx="2575456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4708" y="2697460"/>
            <a:ext cx="2146643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&lt;50ms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404708" y="3165277"/>
            <a:ext cx="2146643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Container Assignment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Pre-warmed pool cold-start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8954764" y="2483048"/>
            <a:ext cx="2575456" cy="3128764"/>
          </a:xfrm>
          <a:prstGeom prst="roundRect">
            <a:avLst>
              <a:gd name="adj" fmla="val 1101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69171" y="2697460"/>
            <a:ext cx="2146643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20-Tier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9169171" y="3165277"/>
            <a:ext cx="2146643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Test Suite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coverage: unit, chaos, fuzzing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67321"/>
            <a:ext cx="1369184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23975"/>
            <a:ext cx="17519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300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Metrics at Scale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04182"/>
            <a:ext cx="3496877" cy="1757462"/>
          </a:xfrm>
          <a:prstGeom prst="roundRect">
            <a:avLst>
              <a:gd name="adj" fmla="val 1613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5881" y="271859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Bundle Size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75881" y="3127276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via Vite build output and gzip compression analysis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504182"/>
            <a:ext cx="3496877" cy="1757462"/>
          </a:xfrm>
          <a:prstGeom prst="roundRect">
            <a:avLst>
              <a:gd name="adj" fmla="val 1613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1766" y="271859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Event Loop Latency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61766" y="3127276"/>
            <a:ext cx="3068065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Sampled via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perf_hooks.monitorEventLoopDelay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(p50/p90/p99)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504182"/>
            <a:ext cx="3496877" cy="1757462"/>
          </a:xfrm>
          <a:prstGeom prst="roundRect">
            <a:avLst>
              <a:gd name="adj" fmla="val 1613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7650" y="2718594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Container Assignment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47650" y="3127276"/>
            <a:ext cx="3068065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Timed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pool.acquire()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container.exec()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450655"/>
            <a:ext cx="10868646" cy="1139924"/>
          </a:xfrm>
          <a:prstGeom prst="roundRect">
            <a:avLst>
              <a:gd name="adj" fmla="val 2487"/>
            </a:avLst>
          </a:prstGeom>
          <a:solidFill>
            <a:srgbClr val="F9F8F5"/>
          </a:solidFill>
          <a:ln w="25399">
            <a:solidFill>
              <a:srgbClr val="D3D1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881" y="4665067"/>
            <a:ext cx="104398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Automated Test Tiers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75881" y="5073749"/>
            <a:ext cx="104398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20-tier suite: unit, integration, chaos, security, E2E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08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Trade-offs &amp; Design Decisions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68673"/>
            <a:ext cx="5357778" cy="2002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38270" y="1896269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50581" y="2449016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Docker vs Firecracker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50581" y="2806502"/>
            <a:ext cx="497956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Namespace isolation chosen for faster initial development; kernel-level isolation is the acknowledged next step, not yet built.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343" y="1768673"/>
            <a:ext cx="5357877" cy="20026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9238" y="1896269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61449" y="2449016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PM2 vs Kubernetes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61449" y="2806502"/>
            <a:ext cx="4979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PM2 was right-sized for this single-VM deployment; would move to an orchestrator only at multi-node scale.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24399"/>
            <a:ext cx="5357778" cy="20026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38270" y="4051995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50581" y="4604742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BYTEA vs JSONB for CRDT Storage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50581" y="4962227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BYTEA chosen since Yjs updates are already compact binary — JSONB would add serialization overhead for no benefit.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343" y="3924399"/>
            <a:ext cx="5357877" cy="200263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49238" y="4051995"/>
            <a:ext cx="2040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361449" y="4604742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Redlock's Known Limitation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361449" y="4962227"/>
            <a:ext cx="4979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Redlock's correctness under Redis failover is debated in the distributed systems community; acceptable here because CRDT state is self-healing on reconnect.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648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What's 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8A6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Next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30748" y="1870670"/>
            <a:ext cx="1120905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"Simplicity in state boundaries beats complexity in sync logic."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678781"/>
            <a:ext cx="25399" cy="663873"/>
          </a:xfrm>
          <a:prstGeom prst="roundRect">
            <a:avLst>
              <a:gd name="adj" fmla="val 50001"/>
            </a:avLst>
          </a:prstGeom>
          <a:solidFill>
            <a:srgbClr val="2828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34543"/>
            <a:ext cx="2589247" cy="35469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48349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6356" y="3252688"/>
            <a:ext cx="217948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High-Density Sandboxing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6356" y="3915966"/>
            <a:ext cx="217948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MicroVMs like AWS Firecracker will harden host Linux kernels against container-escape risks during arbitrary untrusted user code execution.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1275" y="2534543"/>
            <a:ext cx="2589247" cy="35469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8149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626156" y="3252688"/>
            <a:ext cx="217948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WASM Client Extension Runtime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3626156" y="3915966"/>
            <a:ext cx="217948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browser-side runtime for custom linters, formatters, and language analyzers — no server compute overhead or security exposure.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074" y="2534543"/>
            <a:ext cx="2589247" cy="354697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7949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385956" y="3252688"/>
            <a:ext cx="2179484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WebRTC Spatial Audio &amp; Video Mesh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6385956" y="3915966"/>
            <a:ext cx="2179484" cy="1960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Peer-to-peer workspace channels for zero-dependency spatial audio, screen sharing, and developer huddles alongside live Monaco editing.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0874" y="2534543"/>
            <a:ext cx="2589346" cy="354697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27848" y="2669183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145756" y="3252688"/>
            <a:ext cx="21795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Context-Aware Autocompletion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9145756" y="3915966"/>
            <a:ext cx="2179583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 inline ghost text, multi-token completions, and smart code fill powered by code LLMs like Codestral / Mistral AI.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2026-08-30T02:44:38Z</dcterms:created>
  <dcterms:modified xsi:type="dcterms:W3CDTF">2026-08-30T02:44:38Z</dcterms:modified>
</cp:coreProperties>
</file>